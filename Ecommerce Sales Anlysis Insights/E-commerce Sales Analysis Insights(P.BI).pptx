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1CB22-AD09-4EEA-91F7-36117BF724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B1618E-6578-4CFD-A0D1-851B5DFFCB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63D990-861C-40D2-BCE3-382E61314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85E52-7C79-4698-B697-B93D00561276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2CD30-CA50-401C-8DF8-F5D76465A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592E29-6E0D-42F3-9DC3-26CE54135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AB719-82C9-4844-8063-F5533D77E9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0473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600E0-8DA0-49A9-88CB-045A81E75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4DEC2-042F-41DF-A561-7C19B6496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36011-9769-4E94-AE6E-B3BA14CFA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85E52-7C79-4698-B697-B93D00561276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39707B-CAC2-4BCE-8DD6-EFE8FEF75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11839-0F86-47B0-9B51-4CB10E4B1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AB719-82C9-4844-8063-F5533D77E9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325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AC677-DB59-4867-A99D-7FB9C7250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94D6C5-586E-497A-B32E-FD24EA450B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8FE813-9F21-4B12-943F-037A5BB5F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85E52-7C79-4698-B697-B93D00561276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CB89C-6BFC-4C2D-92FA-323CDA63D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4A841-8523-4576-8ABB-B5250C82C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AB719-82C9-4844-8063-F5533D77E9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6104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8A8DB-0C24-459A-A404-FB59D4509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5931D-656B-4173-A055-41F2A3B2FC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54FE63-631A-435D-9861-4F437E8C29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F0FAAD-DA97-4180-94C0-60B350EE6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85E52-7C79-4698-B697-B93D00561276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04F5F9-2BB7-4AF1-9814-4E5BCF0DF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238569-3A4C-4607-9A8D-5117B25AB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AB719-82C9-4844-8063-F5533D77E9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4197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0BC93-F43C-4C8C-8E12-A92CACF98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5DC5B9-94CE-4A0F-B9BD-0918EA1A2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304F4A-5619-4908-B7AE-AB573F9247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322D45-1869-49A1-BE8F-9B57AFAC19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F61E39-1FF9-4041-AAB5-F0C05E7682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DAB0D2-9A5F-448E-9522-EA7D70307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85E52-7C79-4698-B697-B93D00561276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2EF32A-6042-4938-BC7C-0941C2B16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B4CD7B-89DC-4B74-B691-13828A824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AB719-82C9-4844-8063-F5533D77E9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900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FC286-55C0-413E-91D0-DEF794E0D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381F52-2072-45E9-A110-5A7373A07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85E52-7C79-4698-B697-B93D00561276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EF7074-DDD9-4837-986D-04FA281BD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4B450F-7D8E-4637-813B-F8BE594B7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AB719-82C9-4844-8063-F5533D77E9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0716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E2613C-D28B-434B-B6D5-129F9DA96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85E52-7C79-4698-B697-B93D00561276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5D3F1A-5F65-496D-A188-B22A145EB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CCA3A-9126-45AD-806B-A6C0C9EE7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AB719-82C9-4844-8063-F5533D77E9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4607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0C7F7-4C0C-42D8-AFBB-8D5ACECD0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1BDF6-77B3-41CB-8220-6AD7D8FACE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8D7601-7C98-4883-94AF-ECF5A208C4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B2011A-DD4C-4EBF-B809-6EF6B001D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85E52-7C79-4698-B697-B93D00561276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38B7E8-CDF7-4419-9835-F82108A05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5F510C-8B01-496C-B4A6-61E409DA8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AB719-82C9-4844-8063-F5533D77E9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1050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53246-516F-458E-8A90-2227E6EB7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006387-23A7-4AA3-AC17-CD2F516745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76A0B-AFA7-4F62-A4AE-F068871311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C89061-574D-4008-BB5D-8CDAE6AC2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85E52-7C79-4698-B697-B93D00561276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4C4399-7F23-4CE9-8D19-84BB69134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669789-C7D7-4788-82A8-E0BC87443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AB719-82C9-4844-8063-F5533D77E9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8428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1ACE1-5A3F-475E-8841-1DC836E56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3DBE74-7A47-478F-829D-40F3464E97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2EF7C-DA1B-4D6D-9E13-A5062B0C6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85E52-7C79-4698-B697-B93D00561276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B8DA33-4EAA-425D-8B06-E75D7D295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E1D10-96F1-4A80-AE69-F199CCE4D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AB719-82C9-4844-8063-F5533D77E9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9126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8ED462-C0B9-47E7-BDA5-B45DCF740D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3AD7D2-CD56-4AF3-A559-7BB730A3DA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8E6E1-7657-45CB-A473-9482C8E7A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85E52-7C79-4698-B697-B93D00561276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06343-EDD6-4FE1-8847-E26C38517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1A4456-E0E0-44C6-B7F1-131021561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AB719-82C9-4844-8063-F5533D77E9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489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A655CE-1A99-4A0F-AEF7-6B932353F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7EC608-FB47-4213-81B5-14B2ACE4F2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05E63-8B84-46DC-8011-CB74B53468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A85E52-7C79-4698-B697-B93D00561276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04A56-AA29-47A0-93B9-0F1B98C17E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34EDE0-B84E-4D06-8767-19532109B4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AB719-82C9-4844-8063-F5533D77E9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888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00289-5D1B-4921-BB93-6F4FC1D3D9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7576"/>
            <a:ext cx="9144000" cy="681319"/>
          </a:xfrm>
        </p:spPr>
        <p:txBody>
          <a:bodyPr>
            <a:noAutofit/>
          </a:bodyPr>
          <a:lstStyle/>
          <a:p>
            <a:r>
              <a:rPr lang="en-IN" sz="4000" b="1" u="sng" dirty="0"/>
              <a:t>E-commerce Sales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8D2F5D-3028-4B19-A34F-8E48B8F43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788895"/>
            <a:ext cx="9144000" cy="466164"/>
          </a:xfrm>
        </p:spPr>
        <p:txBody>
          <a:bodyPr>
            <a:normAutofit/>
          </a:bodyPr>
          <a:lstStyle/>
          <a:p>
            <a:r>
              <a:rPr lang="en-US" sz="2600" b="1" u="sng" dirty="0"/>
              <a:t>Dashboard Insights:</a:t>
            </a:r>
            <a:endParaRPr lang="en-US" sz="2600" dirty="0"/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61EAE5-94C4-44AA-945E-C23CFC3D1412}"/>
              </a:ext>
            </a:extLst>
          </p:cNvPr>
          <p:cNvSpPr txBox="1"/>
          <p:nvPr/>
        </p:nvSpPr>
        <p:spPr>
          <a:xfrm>
            <a:off x="152400" y="1497106"/>
            <a:ext cx="11887200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1.Overall Business Snapshot:	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sz="1600" dirty="0"/>
              <a:t>Total Sales stand at </a:t>
            </a:r>
            <a:r>
              <a:rPr lang="en-US" sz="1600" b="1" dirty="0"/>
              <a:t>485K</a:t>
            </a:r>
            <a:r>
              <a:rPr lang="en-US" sz="1600" dirty="0"/>
              <a:t> with </a:t>
            </a:r>
            <a:r>
              <a:rPr lang="en-US" sz="1600" b="1" dirty="0"/>
              <a:t>159K profit</a:t>
            </a:r>
            <a:r>
              <a:rPr lang="en-US" sz="1600" dirty="0"/>
              <a:t>, maintaining a </a:t>
            </a:r>
            <a:r>
              <a:rPr lang="en-US" sz="1600" b="1" dirty="0"/>
              <a:t>strong profitability (~32–33%)</a:t>
            </a:r>
            <a:r>
              <a:rPr lang="en-US" sz="1600" dirty="0"/>
              <a:t>.       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b="1" dirty="0"/>
              <a:t> 2K total orders</a:t>
            </a:r>
            <a:r>
              <a:rPr lang="en-US" sz="1600" dirty="0"/>
              <a:t> with an </a:t>
            </a:r>
            <a:r>
              <a:rPr lang="en-US" sz="1600" b="1" dirty="0"/>
              <a:t>average order value of 242</a:t>
            </a:r>
            <a:r>
              <a:rPr lang="en-US" sz="1600" dirty="0"/>
              <a:t> indicate stable customer purchasing behavior.</a:t>
            </a:r>
          </a:p>
          <a:p>
            <a:r>
              <a:rPr lang="en-US" dirty="0"/>
              <a:t>👉 </a:t>
            </a:r>
            <a:r>
              <a:rPr lang="en-US" i="1" dirty="0"/>
              <a:t>Insight:</a:t>
            </a:r>
            <a:r>
              <a:rPr lang="en-US" dirty="0"/>
              <a:t> The business is not just growing in sales, but also maintaining </a:t>
            </a:r>
            <a:r>
              <a:rPr lang="en-US" b="1" dirty="0"/>
              <a:t>healthy margins and consistent order value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2.Regional Sales Performance: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 </a:t>
            </a:r>
            <a:r>
              <a:rPr lang="en-US" sz="1600" b="1" dirty="0"/>
              <a:t>North America and Europe</a:t>
            </a:r>
            <a:r>
              <a:rPr lang="en-US" sz="1600" dirty="0"/>
              <a:t> are the </a:t>
            </a:r>
            <a:r>
              <a:rPr lang="en-US" sz="1600" b="1" dirty="0"/>
              <a:t>dominant revenue-generating regions</a:t>
            </a:r>
            <a:r>
              <a:rPr lang="en-US" sz="1600" dirty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b="1" dirty="0"/>
              <a:t> Asia Pacific</a:t>
            </a:r>
            <a:r>
              <a:rPr lang="en-US" sz="1600" dirty="0"/>
              <a:t> shows moderate contribution with growth potential.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b="1" dirty="0"/>
              <a:t> Middle East &amp; Africa</a:t>
            </a:r>
            <a:r>
              <a:rPr lang="en-US" sz="1600" dirty="0"/>
              <a:t> and </a:t>
            </a:r>
            <a:r>
              <a:rPr lang="en-US" sz="1600" b="1" dirty="0"/>
              <a:t>South America</a:t>
            </a:r>
            <a:r>
              <a:rPr lang="en-US" sz="1600" dirty="0"/>
              <a:t> remain </a:t>
            </a:r>
            <a:r>
              <a:rPr lang="en-US" sz="1600" b="1" dirty="0"/>
              <a:t>low-performing regions</a:t>
            </a:r>
            <a:r>
              <a:rPr lang="en-US" sz="1600" dirty="0"/>
              <a:t>.</a:t>
            </a:r>
          </a:p>
          <a:p>
            <a:r>
              <a:rPr lang="en-US" dirty="0"/>
              <a:t>👉 </a:t>
            </a:r>
            <a:r>
              <a:rPr lang="en-US" i="1" dirty="0"/>
              <a:t>Business Takeaway:</a:t>
            </a:r>
            <a:endParaRPr lang="en-US" dirty="0"/>
          </a:p>
          <a:p>
            <a:r>
              <a:rPr lang="en-US" sz="1600" dirty="0"/>
              <a:t> Focus on </a:t>
            </a:r>
            <a:r>
              <a:rPr lang="en-US" sz="1600" b="1" dirty="0"/>
              <a:t>market expansion strategies</a:t>
            </a:r>
            <a:r>
              <a:rPr lang="en-US" sz="1600" dirty="0"/>
              <a:t> in underperforming regions while </a:t>
            </a:r>
            <a:r>
              <a:rPr lang="en-US" sz="1600" b="1" dirty="0"/>
              <a:t>retaining strong presence</a:t>
            </a:r>
            <a:r>
              <a:rPr lang="en-US" sz="1600" dirty="0"/>
              <a:t> in top regions.</a:t>
            </a:r>
          </a:p>
          <a:p>
            <a:endParaRPr lang="en-US" dirty="0"/>
          </a:p>
          <a:p>
            <a:r>
              <a:rPr lang="en-US" b="1" dirty="0"/>
              <a:t>3.Daily &amp; Monthly Sales Trends:</a:t>
            </a:r>
            <a:endParaRPr lang="en-US" dirty="0"/>
          </a:p>
          <a:p>
            <a:r>
              <a:rPr lang="en-US" sz="1600" b="1" dirty="0"/>
              <a:t>        (A)</a:t>
            </a:r>
            <a:r>
              <a:rPr lang="en-US" sz="1600" dirty="0"/>
              <a:t> </a:t>
            </a:r>
            <a:r>
              <a:rPr lang="en-US" sz="1600" b="1" dirty="0"/>
              <a:t>Daily Trend:</a:t>
            </a:r>
          </a:p>
          <a:p>
            <a:r>
              <a:rPr lang="en-US" b="1" dirty="0"/>
              <a:t>	</a:t>
            </a:r>
            <a:r>
              <a:rPr lang="en-US" sz="1400" b="1" dirty="0"/>
              <a:t>• </a:t>
            </a:r>
            <a:r>
              <a:rPr lang="en-US" sz="1600" dirty="0"/>
              <a:t>Sales fluctuate significantly throughout the month.</a:t>
            </a:r>
          </a:p>
          <a:p>
            <a:r>
              <a:rPr lang="en-US" sz="1600" dirty="0"/>
              <a:t>	• Noticeable </a:t>
            </a:r>
            <a:r>
              <a:rPr lang="en-US" sz="1600" b="1" dirty="0"/>
              <a:t>spikes around mid-month and late-month (Day ~18–20)</a:t>
            </a:r>
            <a:r>
              <a:rPr lang="en-US" sz="1600" dirty="0"/>
              <a:t>.</a:t>
            </a:r>
          </a:p>
          <a:p>
            <a:r>
              <a:rPr lang="en-US" sz="1600" dirty="0"/>
              <a:t>	• Some sharp dips indicate </a:t>
            </a:r>
            <a:r>
              <a:rPr lang="en-US" sz="1600" b="1" dirty="0"/>
              <a:t>inconsistent daily performance</a:t>
            </a:r>
            <a:r>
              <a:rPr lang="en-US" sz="1600" dirty="0"/>
              <a:t>.</a:t>
            </a:r>
          </a:p>
          <a:p>
            <a:r>
              <a:rPr lang="en-US" dirty="0"/>
              <a:t>       </a:t>
            </a:r>
            <a:r>
              <a:rPr lang="en-US" sz="1600" b="1" dirty="0"/>
              <a:t>(B) Monthly Trend:</a:t>
            </a:r>
            <a:endParaRPr lang="en-US" sz="1600" dirty="0"/>
          </a:p>
          <a:p>
            <a:pPr lvl="2"/>
            <a:r>
              <a:rPr lang="en-US" sz="1400" b="1" dirty="0"/>
              <a:t>•</a:t>
            </a:r>
            <a:r>
              <a:rPr lang="en-US" sz="1600" b="1" dirty="0"/>
              <a:t> October</a:t>
            </a:r>
            <a:r>
              <a:rPr lang="en-US" sz="1600" dirty="0"/>
              <a:t> is the highest-performing month.</a:t>
            </a:r>
          </a:p>
        </p:txBody>
      </p:sp>
    </p:spTree>
    <p:extLst>
      <p:ext uri="{BB962C8B-B14F-4D97-AF65-F5344CB8AC3E}">
        <p14:creationId xmlns:p14="http://schemas.microsoft.com/office/powerpoint/2010/main" val="534040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C27280D-3E7C-4B33-BC48-FFD21F011A81}"/>
              </a:ext>
            </a:extLst>
          </p:cNvPr>
          <p:cNvSpPr txBox="1"/>
          <p:nvPr/>
        </p:nvSpPr>
        <p:spPr>
          <a:xfrm>
            <a:off x="125506" y="0"/>
            <a:ext cx="11878235" cy="643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lvl="1"/>
            <a:r>
              <a:rPr lang="en-US" sz="1400" dirty="0"/>
              <a:t>          •</a:t>
            </a:r>
            <a:r>
              <a:rPr lang="en-US" sz="1600" dirty="0"/>
              <a:t> Consistent growth from </a:t>
            </a:r>
            <a:r>
              <a:rPr lang="en-US" sz="1600" b="1" dirty="0"/>
              <a:t>January → July</a:t>
            </a:r>
            <a:r>
              <a:rPr lang="en-US" sz="1600" dirty="0"/>
              <a:t>.</a:t>
            </a:r>
          </a:p>
          <a:p>
            <a:pPr lvl="1"/>
            <a:r>
              <a:rPr lang="en-US" sz="1200" b="1" dirty="0"/>
              <a:t>           </a:t>
            </a:r>
            <a:r>
              <a:rPr lang="en-US" sz="1400" b="1" dirty="0"/>
              <a:t>•</a:t>
            </a:r>
            <a:r>
              <a:rPr lang="en-US" sz="1600" b="1" dirty="0"/>
              <a:t> August dip</a:t>
            </a:r>
            <a:r>
              <a:rPr lang="en-US" sz="1600" dirty="0"/>
              <a:t> followed by recovery.</a:t>
            </a:r>
          </a:p>
          <a:p>
            <a:endParaRPr lang="en-US" dirty="0"/>
          </a:p>
          <a:p>
            <a:r>
              <a:rPr lang="en-US" dirty="0"/>
              <a:t>👉 </a:t>
            </a:r>
            <a:r>
              <a:rPr lang="en-US" i="1" dirty="0"/>
              <a:t>Insight: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Business shows </a:t>
            </a:r>
            <a:r>
              <a:rPr lang="en-US" b="1" dirty="0"/>
              <a:t>seasonality with strong Q4 performance</a:t>
            </a:r>
            <a:r>
              <a:rPr lang="en-US" dirty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Daily volatility suggests opportunities for </a:t>
            </a:r>
            <a:r>
              <a:rPr lang="en-US" b="1" dirty="0"/>
              <a:t>better demand planning or promotions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4.Product Performance (Top Products by Sales):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Top-performing products:</a:t>
            </a:r>
          </a:p>
          <a:p>
            <a:pPr lvl="2"/>
            <a:r>
              <a:rPr lang="en-US" sz="1400" b="1" dirty="0"/>
              <a:t>•</a:t>
            </a:r>
            <a:r>
              <a:rPr lang="en-US" sz="1600" b="1" dirty="0"/>
              <a:t> Standing Desk Converter (47K)</a:t>
            </a:r>
            <a:endParaRPr lang="en-US" sz="1600" dirty="0"/>
          </a:p>
          <a:p>
            <a:pPr lvl="2"/>
            <a:r>
              <a:rPr lang="en-US" sz="1400" b="1" dirty="0"/>
              <a:t>•</a:t>
            </a:r>
            <a:r>
              <a:rPr lang="en-US" sz="1600" b="1" dirty="0"/>
              <a:t> Ergonomic Office Chair (45K)</a:t>
            </a:r>
            <a:endParaRPr lang="en-US" sz="1600" dirty="0"/>
          </a:p>
          <a:p>
            <a:pPr lvl="2"/>
            <a:r>
              <a:rPr lang="en-US" sz="1400" b="1" dirty="0"/>
              <a:t>•</a:t>
            </a:r>
            <a:r>
              <a:rPr lang="en-US" sz="1600" b="1" dirty="0"/>
              <a:t> L-Shaped Desk (41K)</a:t>
            </a:r>
            <a:endParaRPr lang="en-US" sz="16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Majority of top products are </a:t>
            </a:r>
            <a:r>
              <a:rPr lang="en-US" b="1" dirty="0"/>
              <a:t>furniture &amp; workspace-related</a:t>
            </a:r>
            <a:r>
              <a:rPr lang="en-US" dirty="0"/>
              <a:t>.</a:t>
            </a:r>
          </a:p>
          <a:p>
            <a:r>
              <a:rPr lang="en-US" dirty="0"/>
              <a:t>👉 </a:t>
            </a:r>
            <a:r>
              <a:rPr lang="en-US" i="1" dirty="0"/>
              <a:t>Insight: </a:t>
            </a:r>
          </a:p>
          <a:p>
            <a:r>
              <a:rPr lang="en-US" dirty="0"/>
              <a:t> Strong demand for </a:t>
            </a:r>
            <a:r>
              <a:rPr lang="en-US" b="1" dirty="0"/>
              <a:t>work-from-home / office setup products</a:t>
            </a:r>
            <a:r>
              <a:rPr lang="en-US" dirty="0"/>
              <a:t>, indicating a </a:t>
            </a:r>
            <a:r>
              <a:rPr lang="en-US" b="1" dirty="0"/>
              <a:t>clear customer preference trend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5.Customer Segment Analysis: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b="1" dirty="0"/>
              <a:t> Consumer segment (~53%)</a:t>
            </a:r>
            <a:r>
              <a:rPr lang="en-US" sz="1600" dirty="0"/>
              <a:t> dominates sales.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b="1" dirty="0"/>
              <a:t> Corporate (~30%)</a:t>
            </a:r>
            <a:r>
              <a:rPr lang="en-US" sz="1600" dirty="0"/>
              <a:t> contributes significantly.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b="1" dirty="0"/>
              <a:t> Home Office (~17%)</a:t>
            </a:r>
            <a:r>
              <a:rPr lang="en-US" sz="1600" dirty="0"/>
              <a:t> is the smallest segment.</a:t>
            </a:r>
            <a:endParaRPr lang="en-US" dirty="0"/>
          </a:p>
          <a:p>
            <a:r>
              <a:rPr lang="en-US" dirty="0"/>
              <a:t>👉 </a:t>
            </a:r>
            <a:r>
              <a:rPr lang="en-US" i="1" dirty="0"/>
              <a:t>Insight: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 Business is </a:t>
            </a:r>
            <a:r>
              <a:rPr lang="en-US" sz="1600" b="1" dirty="0"/>
              <a:t>consumer-driven</a:t>
            </a:r>
            <a:r>
              <a:rPr lang="en-US" sz="1600" dirty="0"/>
              <a:t>, but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b="1" dirty="0"/>
              <a:t> Corporate segment offers strong B2B growth potential</a:t>
            </a:r>
            <a:r>
              <a:rPr lang="en-US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40259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242ACFC-C119-41C5-A60C-D3DC8F657617}"/>
              </a:ext>
            </a:extLst>
          </p:cNvPr>
          <p:cNvSpPr txBox="1"/>
          <p:nvPr/>
        </p:nvSpPr>
        <p:spPr>
          <a:xfrm>
            <a:off x="134470" y="98612"/>
            <a:ext cx="11923059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6.Payment Mode Analysis:</a:t>
            </a:r>
            <a:endParaRPr lang="en-US" dirty="0"/>
          </a:p>
          <a:p>
            <a:pPr lvl="1"/>
            <a:r>
              <a:rPr lang="en-US" sz="1400" b="1" dirty="0"/>
              <a:t>•</a:t>
            </a:r>
            <a:r>
              <a:rPr lang="en-US" sz="1600" b="1" dirty="0"/>
              <a:t> Credit Card (~40%)</a:t>
            </a:r>
            <a:r>
              <a:rPr lang="en-US" sz="1600" dirty="0"/>
              <a:t> is the most preferred payment method.</a:t>
            </a:r>
          </a:p>
          <a:p>
            <a:pPr lvl="1"/>
            <a:r>
              <a:rPr lang="en-US" sz="1600" dirty="0"/>
              <a:t>• Followed by:</a:t>
            </a:r>
          </a:p>
          <a:p>
            <a:pPr lvl="1"/>
            <a:r>
              <a:rPr lang="en-US" sz="1400" b="1" dirty="0"/>
              <a:t>•</a:t>
            </a:r>
            <a:r>
              <a:rPr lang="en-US" sz="1600" b="1" dirty="0"/>
              <a:t> PayPal (~30%)</a:t>
            </a:r>
            <a:endParaRPr lang="en-US" sz="1600" dirty="0"/>
          </a:p>
          <a:p>
            <a:pPr lvl="1"/>
            <a:r>
              <a:rPr lang="en-US" sz="1600" dirty="0"/>
              <a:t>• </a:t>
            </a:r>
            <a:r>
              <a:rPr lang="en-US" sz="1600" b="1" dirty="0"/>
              <a:t>Cash on Delivery (~15%)</a:t>
            </a:r>
            <a:endParaRPr lang="en-US" sz="1600" dirty="0"/>
          </a:p>
          <a:p>
            <a:pPr lvl="1"/>
            <a:r>
              <a:rPr lang="en-US" sz="1600" b="1" dirty="0"/>
              <a:t>Bank Transfer (~15%)</a:t>
            </a:r>
            <a:endParaRPr lang="en-US" sz="1600" dirty="0"/>
          </a:p>
          <a:p>
            <a:r>
              <a:rPr lang="en-US" dirty="0"/>
              <a:t>👉 </a:t>
            </a:r>
            <a:r>
              <a:rPr lang="en-US" i="1" dirty="0"/>
              <a:t>Insight: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 Customers prefer </a:t>
            </a:r>
            <a:r>
              <a:rPr lang="en-US" sz="1600" b="1" dirty="0"/>
              <a:t>digital payment methods</a:t>
            </a:r>
            <a:r>
              <a:rPr lang="en-US" sz="1600" dirty="0"/>
              <a:t>, showing trust in online transactions.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 COD still exists but is </a:t>
            </a:r>
            <a:r>
              <a:rPr lang="en-US" sz="1600" b="1" dirty="0"/>
              <a:t>less dominant</a:t>
            </a:r>
            <a:r>
              <a:rPr lang="en-US" sz="16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7.Sales vs Rating Analysis: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 Ratings mostly fall between </a:t>
            </a:r>
            <a:r>
              <a:rPr lang="en-US" sz="1600" b="1" dirty="0"/>
              <a:t>2.5 to 4.5</a:t>
            </a:r>
            <a:r>
              <a:rPr lang="en-US" sz="1600" dirty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 No strong clustering at higher ratings.</a:t>
            </a:r>
            <a:endParaRPr lang="en-US" dirty="0"/>
          </a:p>
          <a:p>
            <a:r>
              <a:rPr lang="en-US" dirty="0"/>
              <a:t>👉 </a:t>
            </a:r>
            <a:r>
              <a:rPr lang="en-US" i="1" dirty="0"/>
              <a:t>Insight: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 Customer satisfaction is </a:t>
            </a:r>
            <a:r>
              <a:rPr lang="en-US" sz="1600" b="1" dirty="0"/>
              <a:t>moderate, not exceptional</a:t>
            </a:r>
            <a:r>
              <a:rPr lang="en-US" sz="1600" dirty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 Improving product quality and service can directly impact </a:t>
            </a:r>
            <a:r>
              <a:rPr lang="en-US" sz="1600" b="1" dirty="0"/>
              <a:t>sales growth and retention</a:t>
            </a:r>
            <a:r>
              <a:rPr lang="en-US" sz="16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en-US" b="1" dirty="0"/>
              <a:t>8.Profit vs Discount Analysis: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 As </a:t>
            </a:r>
            <a:r>
              <a:rPr lang="en-US" sz="1600" b="1" dirty="0"/>
              <a:t>discount increases, profit margins decrease</a:t>
            </a:r>
            <a:r>
              <a:rPr lang="en-US" sz="1600" dirty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 Higher discounts (20–30%) show </a:t>
            </a:r>
            <a:r>
              <a:rPr lang="en-US" sz="1600" b="1" dirty="0"/>
              <a:t>lower profit concentration</a:t>
            </a:r>
            <a:r>
              <a:rPr lang="en-US" sz="1600" dirty="0"/>
              <a:t>.</a:t>
            </a:r>
          </a:p>
          <a:p>
            <a:r>
              <a:rPr lang="en-US" dirty="0"/>
              <a:t>👉 </a:t>
            </a:r>
            <a:r>
              <a:rPr lang="en-US" i="1" dirty="0"/>
              <a:t>Insight: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 Heavy discounting is </a:t>
            </a:r>
            <a:r>
              <a:rPr lang="en-US" sz="1600" b="1" dirty="0"/>
              <a:t>reducing profitability</a:t>
            </a:r>
            <a:r>
              <a:rPr lang="en-US" sz="1600" dirty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 Need to optimize pricing strategy to balance </a:t>
            </a:r>
            <a:r>
              <a:rPr lang="en-US" sz="1600" b="1" dirty="0"/>
              <a:t>sales volume vs profit</a:t>
            </a:r>
            <a:r>
              <a:rPr lang="en-US" sz="1600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7927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FBE2A7C-CC87-4AE9-80FE-9E4EBAA61FEC}"/>
              </a:ext>
            </a:extLst>
          </p:cNvPr>
          <p:cNvSpPr txBox="1"/>
          <p:nvPr/>
        </p:nvSpPr>
        <p:spPr>
          <a:xfrm>
            <a:off x="206188" y="89647"/>
            <a:ext cx="11743765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🚀 </a:t>
            </a:r>
            <a:r>
              <a:rPr lang="en-US" b="1" dirty="0"/>
              <a:t>Final Business Summary: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sz="1600" dirty="0"/>
              <a:t>Business shows </a:t>
            </a:r>
            <a:r>
              <a:rPr lang="en-US" sz="1600" b="1" dirty="0"/>
              <a:t>strong overall growth with stable profitability</a:t>
            </a:r>
            <a:r>
              <a:rPr lang="en-US" sz="1600" dirty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 Revenue is driven mainly by </a:t>
            </a:r>
            <a:r>
              <a:rPr lang="en-US" sz="1600" b="1" dirty="0"/>
              <a:t>North America, Europe, and Consumer segment</a:t>
            </a:r>
            <a:r>
              <a:rPr lang="en-US" sz="1600" dirty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b="1" dirty="0"/>
              <a:t> Technology &amp; workspace-related products</a:t>
            </a:r>
            <a:r>
              <a:rPr lang="en-US" sz="1600" dirty="0"/>
              <a:t> dominate demand.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b="1" dirty="0"/>
              <a:t> Seasonal trends and daily fluctuations</a:t>
            </a:r>
            <a:r>
              <a:rPr lang="en-US" sz="1600" dirty="0"/>
              <a:t> highlight opportunities for better planning.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b="1" dirty="0"/>
              <a:t> Digital payments are preferred</a:t>
            </a:r>
            <a:r>
              <a:rPr lang="en-US" sz="1600" dirty="0"/>
              <a:t>, indicating a mature online customer base.</a:t>
            </a:r>
          </a:p>
          <a:p>
            <a:pPr lvl="1"/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/>
              <a:t>Key improvement areas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Low-performing regions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Product quality (ratings)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Discount strategy optimization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5038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596</Words>
  <Application>Microsoft Office PowerPoint</Application>
  <PresentationFormat>Widescreen</PresentationFormat>
  <Paragraphs>79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E-commerce Sales Analysis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Sales Analysis</dc:title>
  <dc:creator>Rohan Shah</dc:creator>
  <cp:lastModifiedBy>Rohan Shah</cp:lastModifiedBy>
  <cp:revision>1</cp:revision>
  <dcterms:created xsi:type="dcterms:W3CDTF">2026-04-28T03:38:44Z</dcterms:created>
  <dcterms:modified xsi:type="dcterms:W3CDTF">2026-04-28T03:39:16Z</dcterms:modified>
</cp:coreProperties>
</file>